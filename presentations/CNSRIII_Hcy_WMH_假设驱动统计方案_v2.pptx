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41e7234db64e53" /><Relationship Type="http://schemas.openxmlformats.org/officeDocument/2006/relationships/extended-properties" Target="/docProps/app.xml" Id="Rf02ae110791f45e7" /><Relationship Type="http://schemas.openxmlformats.org/officeDocument/2006/relationships/officeDocument" Target="/ppt/presentation.xml" Id="Raec64cee9eab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39f5dcfda43d0"/>
  </p:sldMasterIdLst>
  <p:notesMasterIdLst>
    <p:notesMasterId xmlns:r="http://schemas.openxmlformats.org/officeDocument/2006/relationships" r:id="R1bc4252b7d394a61"/>
  </p:notesMasterIdLst>
  <p:sldIdLst>
    <p:sldId xmlns:r="http://schemas.openxmlformats.org/officeDocument/2006/relationships" id="256" r:id="R758851baa59b4589"/>
    <p:sldId xmlns:r="http://schemas.openxmlformats.org/officeDocument/2006/relationships" id="257" r:id="R7c5c7cd4476c4b3c"/>
    <p:sldId xmlns:r="http://schemas.openxmlformats.org/officeDocument/2006/relationships" id="258" r:id="R6e787cd4244c40fe"/>
    <p:sldId xmlns:r="http://schemas.openxmlformats.org/officeDocument/2006/relationships" id="259" r:id="R05d6b92b766b4834"/>
    <p:sldId xmlns:r="http://schemas.openxmlformats.org/officeDocument/2006/relationships" id="260" r:id="R6e742b7a92754ce7"/>
    <p:sldId xmlns:r="http://schemas.openxmlformats.org/officeDocument/2006/relationships" id="261" r:id="Rdc0090f2250944de"/>
    <p:sldId xmlns:r="http://schemas.openxmlformats.org/officeDocument/2006/relationships" id="262" r:id="R8b5bdaf4e2f84278"/>
    <p:sldId xmlns:r="http://schemas.openxmlformats.org/officeDocument/2006/relationships" id="263" r:id="R8eee6b0ddb7840d2"/>
    <p:sldId xmlns:r="http://schemas.openxmlformats.org/officeDocument/2006/relationships" id="264" r:id="Rf6eae2bd6a234563"/>
    <p:sldId xmlns:r="http://schemas.openxmlformats.org/officeDocument/2006/relationships" id="265" r:id="Rd4e2c4971fb34f23"/>
    <p:sldId xmlns:r="http://schemas.openxmlformats.org/officeDocument/2006/relationships" id="266" r:id="R6ddbe45af022492a"/>
    <p:sldId xmlns:r="http://schemas.openxmlformats.org/officeDocument/2006/relationships" id="267" r:id="R146df45574ae43bf"/>
    <p:sldId xmlns:r="http://schemas.openxmlformats.org/officeDocument/2006/relationships" id="268" r:id="R90a5b06ac5484427"/>
    <p:sldId xmlns:r="http://schemas.openxmlformats.org/officeDocument/2006/relationships" id="269" r:id="R708edbe6fc1d4389"/>
    <p:sldId xmlns:r="http://schemas.openxmlformats.org/officeDocument/2006/relationships" id="270" r:id="R6f3d0612d04a4827"/>
    <p:sldId xmlns:r="http://schemas.openxmlformats.org/officeDocument/2006/relationships" id="271" r:id="R9d522d5ec6b74b86"/>
    <p:sldId xmlns:r="http://schemas.openxmlformats.org/officeDocument/2006/relationships" id="272" r:id="R4c37a5690ff94e4c"/>
    <p:sldId xmlns:r="http://schemas.openxmlformats.org/officeDocument/2006/relationships" id="273" r:id="R4970e3fa12a34ebd"/>
    <p:sldId xmlns:r="http://schemas.openxmlformats.org/officeDocument/2006/relationships" id="274" r:id="Rb436cde82bdc4247"/>
    <p:sldId xmlns:r="http://schemas.openxmlformats.org/officeDocument/2006/relationships" id="275" r:id="Rd240df7afb254df4"/>
    <p:sldId xmlns:r="http://schemas.openxmlformats.org/officeDocument/2006/relationships" id="276" r:id="Rc3e92f0dd4604706"/>
    <p:sldId xmlns:r="http://schemas.openxmlformats.org/officeDocument/2006/relationships" id="277" r:id="R15629b87660f4e30"/>
    <p:sldId xmlns:r="http://schemas.openxmlformats.org/officeDocument/2006/relationships" id="278" r:id="R29c527bbbb864684"/>
    <p:sldId xmlns:r="http://schemas.openxmlformats.org/officeDocument/2006/relationships" id="279" r:id="R2d0bfb5332f84fd4"/>
    <p:sldId xmlns:r="http://schemas.openxmlformats.org/officeDocument/2006/relationships" id="280" r:id="Rccd0a979953d472e"/>
    <p:sldId xmlns:r="http://schemas.openxmlformats.org/officeDocument/2006/relationships" id="281" r:id="Rcc738dbc73d54ec8"/>
    <p:sldId xmlns:r="http://schemas.openxmlformats.org/officeDocument/2006/relationships" id="282" r:id="R90acb4183da04a40"/>
    <p:sldId xmlns:r="http://schemas.openxmlformats.org/officeDocument/2006/relationships" id="283" r:id="R84dc2cc4e8b14a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1f6fb5159a48eb" /><Relationship Type="http://schemas.openxmlformats.org/officeDocument/2006/relationships/slideMaster" Target="/ppt/slideMasters/slideMaster1.xml" Id="R75539f5dcfda43d0" /><Relationship Type="http://schemas.openxmlformats.org/officeDocument/2006/relationships/notesMaster" Target="/ppt/notesMasters/notesMaster1.xml" Id="R1bc4252b7d394a61" /><Relationship Type="http://schemas.openxmlformats.org/officeDocument/2006/relationships/presProps" Target="/ppt/presProps.xml" Id="R25e4d08411cb447c" /><Relationship Type="http://schemas.openxmlformats.org/officeDocument/2006/relationships/tableStyles" Target="/ppt/tableStyles.xml" Id="R14dcf2ecc1414477" /><Relationship Type="http://schemas.openxmlformats.org/officeDocument/2006/relationships/slide" Target="/ppt/slides/slide1.xml" Id="R758851baa59b4589" /><Relationship Type="http://schemas.openxmlformats.org/officeDocument/2006/relationships/slide" Target="/ppt/slides/slide2.xml" Id="R7c5c7cd4476c4b3c" /><Relationship Type="http://schemas.openxmlformats.org/officeDocument/2006/relationships/slide" Target="/ppt/slides/slide3.xml" Id="R6e787cd4244c40fe" /><Relationship Type="http://schemas.openxmlformats.org/officeDocument/2006/relationships/slide" Target="/ppt/slides/slide4.xml" Id="R05d6b92b766b4834" /><Relationship Type="http://schemas.openxmlformats.org/officeDocument/2006/relationships/slide" Target="/ppt/slides/slide5.xml" Id="R6e742b7a92754ce7" /><Relationship Type="http://schemas.openxmlformats.org/officeDocument/2006/relationships/slide" Target="/ppt/slides/slide6.xml" Id="Rdc0090f2250944de" /><Relationship Type="http://schemas.openxmlformats.org/officeDocument/2006/relationships/slide" Target="/ppt/slides/slide7.xml" Id="R8b5bdaf4e2f84278" /><Relationship Type="http://schemas.openxmlformats.org/officeDocument/2006/relationships/slide" Target="/ppt/slides/slide8.xml" Id="R8eee6b0ddb7840d2" /><Relationship Type="http://schemas.openxmlformats.org/officeDocument/2006/relationships/slide" Target="/ppt/slides/slide9.xml" Id="Rf6eae2bd6a234563" /><Relationship Type="http://schemas.openxmlformats.org/officeDocument/2006/relationships/slide" Target="/ppt/slides/slide10.xml" Id="Rd4e2c4971fb34f23" /><Relationship Type="http://schemas.openxmlformats.org/officeDocument/2006/relationships/slide" Target="/ppt/slides/slide11.xml" Id="R6ddbe45af022492a" /><Relationship Type="http://schemas.openxmlformats.org/officeDocument/2006/relationships/slide" Target="/ppt/slides/slide12.xml" Id="R146df45574ae43bf" /><Relationship Type="http://schemas.openxmlformats.org/officeDocument/2006/relationships/slide" Target="/ppt/slides/slide13.xml" Id="R90a5b06ac5484427" /><Relationship Type="http://schemas.openxmlformats.org/officeDocument/2006/relationships/slide" Target="/ppt/slides/slide14.xml" Id="R708edbe6fc1d4389" /><Relationship Type="http://schemas.openxmlformats.org/officeDocument/2006/relationships/slide" Target="/ppt/slides/slide15.xml" Id="R6f3d0612d04a4827" /><Relationship Type="http://schemas.openxmlformats.org/officeDocument/2006/relationships/slide" Target="/ppt/slides/slide16.xml" Id="R9d522d5ec6b74b86" /><Relationship Type="http://schemas.openxmlformats.org/officeDocument/2006/relationships/slide" Target="/ppt/slides/slide17.xml" Id="R4c37a5690ff94e4c" /><Relationship Type="http://schemas.openxmlformats.org/officeDocument/2006/relationships/slide" Target="/ppt/slides/slide18.xml" Id="R4970e3fa12a34ebd" /><Relationship Type="http://schemas.openxmlformats.org/officeDocument/2006/relationships/slide" Target="/ppt/slides/slide19.xml" Id="Rb436cde82bdc4247" /><Relationship Type="http://schemas.openxmlformats.org/officeDocument/2006/relationships/slide" Target="/ppt/slides/slide20.xml" Id="Rd240df7afb254df4" /><Relationship Type="http://schemas.openxmlformats.org/officeDocument/2006/relationships/slide" Target="/ppt/slides/slide21.xml" Id="Rc3e92f0dd4604706" /><Relationship Type="http://schemas.openxmlformats.org/officeDocument/2006/relationships/slide" Target="/ppt/slides/slide22.xml" Id="R15629b87660f4e30" /><Relationship Type="http://schemas.openxmlformats.org/officeDocument/2006/relationships/slide" Target="/ppt/slides/slide23.xml" Id="R29c527bbbb864684" /><Relationship Type="http://schemas.openxmlformats.org/officeDocument/2006/relationships/slide" Target="/ppt/slides/slide24.xml" Id="R2d0bfb5332f84fd4" /><Relationship Type="http://schemas.openxmlformats.org/officeDocument/2006/relationships/slide" Target="/ppt/slides/slide25.xml" Id="Rccd0a979953d472e" /><Relationship Type="http://schemas.openxmlformats.org/officeDocument/2006/relationships/slide" Target="/ppt/slides/slide26.xml" Id="Rcc738dbc73d54ec8" /><Relationship Type="http://schemas.openxmlformats.org/officeDocument/2006/relationships/slide" Target="/ppt/slides/slide27.xml" Id="R90acb4183da04a40" /><Relationship Type="http://schemas.openxmlformats.org/officeDocument/2006/relationships/slide" Target="/ppt/slides/slide28.xml" Id="R84dc2cc4e8b1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84fdf7ac1d44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138ea2f8354e79" /><Relationship Type="http://schemas.openxmlformats.org/officeDocument/2006/relationships/notesMaster" Target="/ppt/notesMasters/notesMaster1.xml" Id="R7d24000c6f0948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ce3ddd75d47d1" /><Relationship Type="http://schemas.openxmlformats.org/officeDocument/2006/relationships/notesMaster" Target="/ppt/notesMasters/notesMaster1.xml" Id="R7ee5e93a0941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8812797c3041f3" /><Relationship Type="http://schemas.openxmlformats.org/officeDocument/2006/relationships/notesMaster" Target="/ppt/notesMasters/notesMaster1.xml" Id="R0b1dad87ec964c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66960411204849" /><Relationship Type="http://schemas.openxmlformats.org/officeDocument/2006/relationships/notesMaster" Target="/ppt/notesMasters/notesMaster1.xml" Id="Rc108c6361f60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e95554cbc44916" /><Relationship Type="http://schemas.openxmlformats.org/officeDocument/2006/relationships/notesMaster" Target="/ppt/notesMasters/notesMaster1.xml" Id="R7e846114fe2947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b73eaf83c642f6" /><Relationship Type="http://schemas.openxmlformats.org/officeDocument/2006/relationships/notesMaster" Target="/ppt/notesMasters/notesMaster1.xml" Id="Rc42c5e174c27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c171967744dfa" /><Relationship Type="http://schemas.openxmlformats.org/officeDocument/2006/relationships/notesMaster" Target="/ppt/notesMasters/notesMaster1.xml" Id="Rc2c9f5fc6a1e44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dc978aca00408a" /><Relationship Type="http://schemas.openxmlformats.org/officeDocument/2006/relationships/notesMaster" Target="/ppt/notesMasters/notesMaster1.xml" Id="Rfb0c0aab236f42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0c5c96d84d49c3" /><Relationship Type="http://schemas.openxmlformats.org/officeDocument/2006/relationships/notesMaster" Target="/ppt/notesMasters/notesMaster1.xml" Id="Rbfb36773bfb54b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272d1e9ada4ea4" /><Relationship Type="http://schemas.openxmlformats.org/officeDocument/2006/relationships/notesMaster" Target="/ppt/notesMasters/notesMaster1.xml" Id="R69ac83e139f442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41ea487544fc5" /><Relationship Type="http://schemas.openxmlformats.org/officeDocument/2006/relationships/notesMaster" Target="/ppt/notesMasters/notesMaster1.xml" Id="R69d3ffee170b47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91544551aa4beb" /><Relationship Type="http://schemas.openxmlformats.org/officeDocument/2006/relationships/notesMaster" Target="/ppt/notesMasters/notesMaster1.xml" Id="Raedcf00e67bd48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bdf02c4e694d8d" /><Relationship Type="http://schemas.openxmlformats.org/officeDocument/2006/relationships/notesMaster" Target="/ppt/notesMasters/notesMaster1.xml" Id="R7e6c699e6acf4a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79b7d162dd4e0b" /><Relationship Type="http://schemas.openxmlformats.org/officeDocument/2006/relationships/notesMaster" Target="/ppt/notesMasters/notesMaster1.xml" Id="R9e2fc96ca7a340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4d8e4486144c91" /><Relationship Type="http://schemas.openxmlformats.org/officeDocument/2006/relationships/notesMaster" Target="/ppt/notesMasters/notesMaster1.xml" Id="R9e49040434104f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6dd87fb0b94b7c" /><Relationship Type="http://schemas.openxmlformats.org/officeDocument/2006/relationships/notesMaster" Target="/ppt/notesMasters/notesMaster1.xml" Id="Rb4590be0d76449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9dc00c0a524aaf" /><Relationship Type="http://schemas.openxmlformats.org/officeDocument/2006/relationships/notesMaster" Target="/ppt/notesMasters/notesMaster1.xml" Id="R2290502e3c524b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6532919b9146c5" /><Relationship Type="http://schemas.openxmlformats.org/officeDocument/2006/relationships/notesMaster" Target="/ppt/notesMasters/notesMaster1.xml" Id="Ra38e322189f646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b6bf278062440e" /><Relationship Type="http://schemas.openxmlformats.org/officeDocument/2006/relationships/notesMaster" Target="/ppt/notesMasters/notesMaster1.xml" Id="Rcb232f24d74148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38c45b151964c29" /><Relationship Type="http://schemas.openxmlformats.org/officeDocument/2006/relationships/notesMaster" Target="/ppt/notesMasters/notesMaster1.xml" Id="Raffd5c2652744b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f5e92ebc28444b" /><Relationship Type="http://schemas.openxmlformats.org/officeDocument/2006/relationships/notesMaster" Target="/ppt/notesMasters/notesMaster1.xml" Id="Rf0d0ee04430a4a8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ce287944054a43" /><Relationship Type="http://schemas.openxmlformats.org/officeDocument/2006/relationships/notesMaster" Target="/ppt/notesMasters/notesMaster1.xml" Id="R6558bd8b0bf643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d8675f304d4b8f" /><Relationship Type="http://schemas.openxmlformats.org/officeDocument/2006/relationships/notesMaster" Target="/ppt/notesMasters/notesMaster1.xml" Id="Rb70b8469c42346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67000347e54594" /><Relationship Type="http://schemas.openxmlformats.org/officeDocument/2006/relationships/notesMaster" Target="/ppt/notesMasters/notesMaster1.xml" Id="Ra1829e87c82a4a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f9ef03523d4cbf" /><Relationship Type="http://schemas.openxmlformats.org/officeDocument/2006/relationships/notesMaster" Target="/ppt/notesMasters/notesMaster1.xml" Id="R33d9508dbbaf4b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7e425384c846c6" /><Relationship Type="http://schemas.openxmlformats.org/officeDocument/2006/relationships/notesMaster" Target="/ppt/notesMasters/notesMaster1.xml" Id="Re42e9f40d6f5460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fef79c103642a5" /><Relationship Type="http://schemas.openxmlformats.org/officeDocument/2006/relationships/notesMaster" Target="/ppt/notesMasters/notesMaster1.xml" Id="R432109f538f64e6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6bb10ea6d7a4d70" /><Relationship Type="http://schemas.openxmlformats.org/officeDocument/2006/relationships/notesMaster" Target="/ppt/notesMasters/notesMaster1.xml" Id="Rda963dc4978e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[NOMAS] Wright CB, Paik MC, Brown TR, et al. Total homocysteine is associated with white matter hyperintensity volume: the Northern Manhattan Study. Stroke. 2005. https://doi.org/10.1161/01.STR.0000165923.02318.22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[M3_HCY] Shi Z, Liu S, Guan Y, et al. Changes in total homocysteine levels after acute stroke and recurrence of stroke. Scientific Reports. 2018. https://doi.org/10.1038/s41598-018-25398-5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[NOMAS] Wright CB, Paik MC, Brown TR, et al. Total homocysteine is associated with white matter hyperintensity volume: the Northern Manhattan Study. Stroke. 2005. https://doi.org/10.1161/01.STR.0000165923.02318.22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[SMART] Kloppenborg RP, Geerlings MI, Visseren FL, et al. Homocysteine and progression of generalized small-vessel disease. Neurology. 2014. https://doi.org/10.1212/WNL.0000000000000168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[B12WMH] de Lau LML, Smith AD, Refsum H, et al. Plasma vitamin B12 status and cerebral white-matter lesions. Journal of Neurology, Neurosurgery &amp;amp; Psychiatry. 2009. https://doi.org/10.1136/jnnp.2008.149286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[NIH] National Institutes of Health Office of Dietary Supplements. Vitamin B12 Fact Sheet for Health Professionals. NIH Office of Dietary Supplements. 2026. https://ods.od.nih.gov/factsheets/VitaminB12-HealthProfessional/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[SMART] Kloppenborg RP, Geerlings MI, Visseren FL, et al. Homocysteine and progression of generalized small-vessel disease. Neurology. 2014. https://doi.org/10.1212/WNL.0000000000000168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[M3_HCY] Shi Z, Liu S, Guan Y, et al. Changes in total homocysteine levels after acute stroke and recurrence of stroke. Scientific Reports. 2018. https://doi.org/10.1038/s41598-018-25398-5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[M3_HCY] Shi Z, Liu S, Guan Y, et al. Changes in total homocysteine levels after acute stroke and recurrence of stroke. Scientific Reports. 2018. https://doi.org/10.1038/s41598-018-25398-5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[FOLATE_OUTCOME] Shi M, Zheng J, Liu Y, et al. Folate, Homocysteine, and Adverse Outcomes After Ischemic Stroke. Journal of the American Heart Association. 2024. https://doi.org/10.1161/JAHA.124.036527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[WMH_FUNCTION] Griessenauer CJ, et al. Effects of White Matter Hyperintensities on 90-Day Functional Outcome after Large Vessel and Non-Large Vessel Stroke. Cerebrovascular Diseases. 2020. https://pubmed.ncbi.nlm.nih.gov/32694259/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[BRAIN_VOLUME] Schirmer MD, et al. Brain Volume: An Important Determinant of Functional Outcome After Acute Ischemic Stroke. Mayo Clinic Proceedings. 2020. https://pubmed.ncbi.nlm.nih.gov/32370856/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该准则有因果结构前提。程序保证按冻结角色执行选择，不从患者P值推断因果角色。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[VANDERWEELE] VanderWeele TJ. Principles of confounder selection. European Journal of Epidemiology. 2019. https://doi.org/10.1007/s10654-019-00494-6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[OVERADJUST] Schisterman EF, Cole SR, Platt RW. Overadjustment bias and unnecessary adjustment in epidemiologic studies. Epidemiology. 2009. https://doi.org/10.1097/EDE.0b013e3181a819a1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[VANDERWEELE] VanderWeele TJ. Principles of confounder selection. European Journal of Epidemiology. 2019. https://doi.org/10.1007/s10654-019-00494-6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[RECURRENCE] Weimar C, Diener HC, Alberts MJ, et al. The Essen stroke risk score predicts recurrent cardiovascular events: a validation within the REduction of Atherothrombosis for Continued Health (REACH) registry. Stroke. 2009. https://doi.org/10.1161/STROKEAHA.108.521419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[B12WMH] de Lau LML, Smith AD, Refsum H, et al. Plasma vitamin B12 status and cerebral white-matter lesions. Journal of Neurology, Neurosurgery &amp;amp; Psychiatry. 2009. https://doi.org/10.1136/jnnp.2008.149286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[HORD_METAB] Refsum H, Nurk E, Smith AD, et al. The Hordaland Homocysteine Study: A Community-Based Study of Homocysteine, Its Determinants, and Associations with Disease. Journal of Nutrition. 2006. https://doi.org/10.1093/jn/136.6.1731S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[RECURRENCE] Weimar C, Diener HC, Alberts MJ, et al. The Essen stroke risk score predicts recurrent cardiovascular events: a validation within the REduction of Atherothrombosis for Continued Health (REACH) registry. Stroke. 2009. https://doi.org/10.1161/STROKEAHA.108.521419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代谢背景指长期状态；基线Hcy近似表征这一状态。采血发生在急性卒中后，不能把实际采血结果解释为本次急性事件的原因。背景C影响代谢、WMH和结局。本次急性状态可能承接背景损伤影响，故H1/H2主分析不加入A；H4明确比较急性状态相近者并加入A及卒中前m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[VANDERWEELE] VanderWeele TJ. Principles of confounder selection. European Journal of Epidemiology. 2019. https://doi.org/10.1007/s10654-019-00494-6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[OVERADJUST] Schisterman EF, Cole SR, Platt RW. Overadjustment bias and unnecessary adjustment in epidemiologic studies. Epidemiology. 2009. https://doi.org/10.1097/EDE.0b013e3181a819a1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2026-09-16：以发病为时间尺度，从实际基线采血日进入风险集。发病到MRI的天数不再作为输入或筛选条件。合格MRI视为基线结构表型，本分析不核定扫描与早期复发的先后。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HC3标准误。报告log1p体积差及其CI；exp(Δ1)是加1后体积之比，不是原始体积百分比。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[NOMAS] Wright CB, Paik MC, Brown TR, et al. Total homocysteine is associated with white matter hyperintensity volume: the Northern Manhattan Study. Stroke. 2005. https://doi.org/10.1161/01.STR.0000165923.02318.22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[PHREG]  statsmodels PHReg: proportional hazards regression, entry and Efron ties. Official documentation. 2026. https://www.statsmodels.org/stable/generated/statsmodels.duration.hazard_regression.PHReg.html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报告从各自基线采血时间起至发病365天的平均风险。相对尺度交互与不同基础风险造成的风险差变化分别解释。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[PHREG]  statsmodels PHReg: proportional hazards regression, entry and Efron ties. Official documentation. 2026. https://www.statsmodels.org/stable/generated/statsmodels.duration.hazard_regression.PHReg.html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[M3_HCY] Shi Z, Liu S, Guan Y, et al. Changes in total homocysteine levels after acute stroke and recurrence of stroke. Scientific Reports. 2018. https://doi.org/10.1038/s41598-018-25398-5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本版不新增M3 Hcy×WMH检验。M0/M1为模型内风险更新；临床预测性能需要另行校准和验证。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[M3_HCY] Shi Z, Liu S, Guan Y, et al. Changes in total homocysteine levels after acute stroke and recurrence of stroke. Scientific Reports. 2018. https://doi.org/10.1038/s41598-018-25398-5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[FOLATE_OUTCOME] Shi M, Zheng J, Liu Y, et al. Folate, Homocysteine, and Adverse Outcomes After Ischemic Stroke. Journal of the American Heart Association. 2024. https://doi.org/10.1161/JAHA.124.036527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[WMH_FUNCTION] Griessenauer CJ, et al. Effects of White Matter Hyperintensities on 90-Day Functional Outcome after Large Vessel and Non-Large Vessel Stroke. Cerebrovascular Diseases. 2020. https://pubmed.ncbi.nlm.nih.gov/32694259/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[ORDERED]  statsmodels OrderedModel: ordinal regression. Official documentation. 2026. https://www.statsmodels.org/stable/generated/statsmodels.miscmodels.ordinal_model.OrderedModel.html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[OVERADJUST] Schisterman EF, Cole SR, Platt RW. Overadjustment bias and unnecessary adjustment in epidemiologic studies. Epidemiology. 2009. https://doi.org/10.1097/EDE.0b013e3181a819a1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[BRAIN_VOLUME] Schirmer MD, et al. Brain Volume: An Important Determinant of Functional Outcome After Acute Ischemic Stroke. Mayo Clinic Proceedings. 2020. https://pubmed.ncbi.nlm.nih.gov/32370856/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所有效应报告逐项95%CI；次要假设支持判定依据校正P，不用未校正区间代替。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[WHITE] White IR, Royston P. Imputing missing covariate values for the Cox model. Statistics in Medicine. 2009. https://doi.org/10.1002/sim.3618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[MICOX] Bonneville EF, Resche-Rigon M, Schetelig J, et al. Multiple imputation for cause-specific Cox models: Assessing methods for estimation and prediction. Statistical Methods in Medical Research. 2022. https://doi.org/10.1177/09622802221102623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[MICE]  miceforest: multiple imputation with LightGBM. Official documentation. 2026. https://github.com/AnotherSamWilson/miceforest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临床与影像分析全部Python。SAS读取保留元数据，真实入口缺少输入时报告错误。示例使用显式demo命令。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[NOMAS] Wright CB, Paik MC, Brown TR, et al. Total homocysteine is associated with white matter hyperintensity volume: the Northern Manhattan Study. Stroke. 2005. https://doi.org/10.1161/01.STR.0000165923.02318.22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[SMART] Kloppenborg RP, Geerlings MI, Visseren FL, et al. Homocysteine and progression of generalized small-vessel disease. Neurology. 2014. https://doi.org/10.1212/WNL.0000000000000168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[B12WMH] de Lau LML, Smith AD, Refsum H, et al. Plasma vitamin B12 status and cerebral white-matter lesions. Journal of Neurology, Neurosurgery &amp;amp; Psychiatry. 2009. https://doi.org/10.1136/jnnp.2008.149286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[M3_HCY] Shi Z, Liu S, Guan Y, et al. Changes in total homocysteine levels after acute stroke and recurrence of stroke. Scientific Reports. 2018. https://doi.org/10.1038/s41598-018-25398-5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[FOLATE_OUTCOME] Shi M, Zheng J, Liu Y, et al. Folate, Homocysteine, and Adverse Outcomes After Ischemic Stroke. Journal of the American Heart Association. 2024. https://doi.org/10.1161/JAHA.124.036527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[WMH_FUNCTION] Griessenauer CJ, et al. Effects of White Matter Hyperintensities on 90-Day Functional Outcome after Large Vessel and Non-Large Vessel Stroke. Cerebrovascular Diseases. 2020. https://pubmed.ncbi.nlm.nih.gov/32694259/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[BRAIN_VOLUME] Schirmer MD, et al. Brain Volume: An Important Determinant of Functional Outcome After Acute Ischemic Stroke. Mayo Clinic Proceedings. 2020. https://pubmed.ncbi.nlm.nih.gov/32370856/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[RECURRENCE] Weimar C, Diener HC, Alberts MJ, et al. The Essen stroke risk score predicts recurrent cardiovascular events: a validation within the REduction of Atherothrombosis for Continued Health (REACH) registry. Stroke. 2009. https://doi.org/10.1161/STROKEAHA.108.521419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[VANDERWEELE] VanderWeele TJ. Principles of confounder selection. European Journal of Epidemiology. 2019. https://doi.org/10.1007/s10654-019-00494-6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[OVERADJUST] Schisterman EF, Cole SR, Platt RW. Overadjustment bias and unnecessary adjustment in epidemiologic studies. Epidemiology. 2009. https://doi.org/10.1097/EDE.0b013e3181a819a1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[WHITE] White IR, Royston P. Imputing missing covariate values for the Cox model. Statistics in Medicine. 2009. https://doi.org/10.1002/sim.3618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[MICOX] Bonneville EF, Resche-Rigon M, Schetelig J, et al. Multiple imputation for cause-specific Cox models: Assessing methods for estimation and prediction. Statistical Methods in Medical Research. 2022. https://doi.org/10.1177/09622802221102623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[CUTOFF] Altman DG, Royston P. The cost of dichotomising continuous variables. BMJ. 2006. https://doi.org/10.1136/bmj.332.7549.1080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[PHREG]  statsmodels PHReg: proportional hazards regression, entry and Efron ties. Official documentation. 2026. https://www.statsmodels.org/stable/generated/statsmodels.duration.hazard_regression.PHReg.html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[ORDERED]  statsmodels OrderedModel: ordinal regression. Official documentation. 2026. https://www.statsmodels.org/stable/generated/statsmodels.miscmodels.ordinal_model.OrderedModel.html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[MICE]  miceforest: multiple imputation with LightGBM. Official documentation. 2026. https://github.com/AnotherSamWilson/miceforest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ee9aa3df0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01f19bddd94bf7" /><Relationship Type="http://schemas.openxmlformats.org/officeDocument/2006/relationships/slideLayout" Target="/ppt/slideLayouts/slideLayout1.xml" Id="R580b0a5b766441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0b0a5b766441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ba3097794310" /><Relationship Type="http://schemas.openxmlformats.org/officeDocument/2006/relationships/notesSlide" Target="/ppt/notesSlides/notesSlide1.xml" Id="R247871b3c6ff43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7377a9b034fc0" /><Relationship Type="http://schemas.openxmlformats.org/officeDocument/2006/relationships/notesSlide" Target="/ppt/notesSlides/notesSlide2.xml" Id="Rfa8d3b6bb99b4e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24179d0314e6e" /><Relationship Type="http://schemas.openxmlformats.org/officeDocument/2006/relationships/notesSlide" Target="/ppt/notesSlides/notesSlide3.xml" Id="R56a1bdab3e3a41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2ab23e5f74edb" /><Relationship Type="http://schemas.openxmlformats.org/officeDocument/2006/relationships/notesSlide" Target="/ppt/notesSlides/notesSlide4.xml" Id="R330be5083a5a45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76e939e954a3b" /><Relationship Type="http://schemas.openxmlformats.org/officeDocument/2006/relationships/notesSlide" Target="/ppt/notesSlides/notesSlide5.xml" Id="R1ddbcfd13cb042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651d8e0284ae7" /><Relationship Type="http://schemas.openxmlformats.org/officeDocument/2006/relationships/notesSlide" Target="/ppt/notesSlides/notesSlide6.xml" Id="R30724bc177ef4b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7774549bd43a9" /><Relationship Type="http://schemas.openxmlformats.org/officeDocument/2006/relationships/notesSlide" Target="/ppt/notesSlides/notesSlide7.xml" Id="Rb481b14251024a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8567af36144e6" /><Relationship Type="http://schemas.openxmlformats.org/officeDocument/2006/relationships/notesSlide" Target="/ppt/notesSlides/notesSlide8.xml" Id="Re46bee8d13fd44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9a42130aa41b5" /><Relationship Type="http://schemas.openxmlformats.org/officeDocument/2006/relationships/notesSlide" Target="/ppt/notesSlides/notesSlide9.xml" Id="Rad023408f80044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2e9179c5d49eb" /><Relationship Type="http://schemas.openxmlformats.org/officeDocument/2006/relationships/notesSlide" Target="/ppt/notesSlides/notesSlide10.xml" Id="Rb45a8afa574542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3061ad3834c0b" /><Relationship Type="http://schemas.openxmlformats.org/officeDocument/2006/relationships/notesSlide" Target="/ppt/notesSlides/notesSlide11.xml" Id="R25f75f0d68db4b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11d3e2e23429f" /><Relationship Type="http://schemas.openxmlformats.org/officeDocument/2006/relationships/notesSlide" Target="/ppt/notesSlides/notesSlide12.xml" Id="R0fb94341998642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e7bdc5b334d1f" /><Relationship Type="http://schemas.openxmlformats.org/officeDocument/2006/relationships/notesSlide" Target="/ppt/notesSlides/notesSlide13.xml" Id="R0ddb4864027c46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678cb541849ff" /><Relationship Type="http://schemas.openxmlformats.org/officeDocument/2006/relationships/notesSlide" Target="/ppt/notesSlides/notesSlide14.xml" Id="R66f95154972e49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690cc139a484f" /><Relationship Type="http://schemas.openxmlformats.org/officeDocument/2006/relationships/notesSlide" Target="/ppt/notesSlides/notesSlide15.xml" Id="R806760f5e8094f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92305b5454ba9" /><Relationship Type="http://schemas.openxmlformats.org/officeDocument/2006/relationships/notesSlide" Target="/ppt/notesSlides/notesSlide16.xml" Id="R4e5e5fdef50147f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df03488144df7" /><Relationship Type="http://schemas.openxmlformats.org/officeDocument/2006/relationships/notesSlide" Target="/ppt/notesSlides/notesSlide17.xml" Id="Rf764cc1086db43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b9a2f65494567" /><Relationship Type="http://schemas.openxmlformats.org/officeDocument/2006/relationships/notesSlide" Target="/ppt/notesSlides/notesSlide18.xml" Id="R56d54f14d8194b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8034424ef4963" /><Relationship Type="http://schemas.openxmlformats.org/officeDocument/2006/relationships/notesSlide" Target="/ppt/notesSlides/notesSlide19.xml" Id="Rd8ecb59e396c4ea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6e70857bf4c53" /><Relationship Type="http://schemas.openxmlformats.org/officeDocument/2006/relationships/notesSlide" Target="/ppt/notesSlides/notesSlide20.xml" Id="R31fb33d7e1384c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417b267114d51" /><Relationship Type="http://schemas.openxmlformats.org/officeDocument/2006/relationships/notesSlide" Target="/ppt/notesSlides/notesSlide21.xml" Id="R256f903513614b6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8eb00d22643cf" /><Relationship Type="http://schemas.openxmlformats.org/officeDocument/2006/relationships/notesSlide" Target="/ppt/notesSlides/notesSlide22.xml" Id="R26a86769113d49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588ffd5e84c1d" /><Relationship Type="http://schemas.openxmlformats.org/officeDocument/2006/relationships/notesSlide" Target="/ppt/notesSlides/notesSlide23.xml" Id="R97e3c0fce6934ce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1b5d0ecb45ea" /><Relationship Type="http://schemas.openxmlformats.org/officeDocument/2006/relationships/notesSlide" Target="/ppt/notesSlides/notesSlide24.xml" Id="Rc522f76b4632452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8239e8ddf4da8" /><Relationship Type="http://schemas.openxmlformats.org/officeDocument/2006/relationships/notesSlide" Target="/ppt/notesSlides/notesSlide25.xml" Id="R0d523fe5bdf84be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26bc562c14c0d" /><Relationship Type="http://schemas.openxmlformats.org/officeDocument/2006/relationships/notesSlide" Target="/ppt/notesSlides/notesSlide26.xml" Id="R25d5693e19bb4d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4911deb4f4ee4" /><Relationship Type="http://schemas.openxmlformats.org/officeDocument/2006/relationships/notesSlide" Target="/ppt/notesSlides/notesSlide27.xml" Id="Rff77d7b83e1444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beb6a840c4ed9" /><Relationship Type="http://schemas.openxmlformats.org/officeDocument/2006/relationships/notesSlide" Target="/ppt/notesSlides/notesSlide28.xml" Id="Rc9d8be7a34124e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B27BF-6EA2-4851-B996-AD403DF8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A07B1-F406-40C2-BE76-434AFC6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8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Hcy × WMH：四条可检验假设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D8CB8-824F-4C17-B688-74C77B80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CNSR-III｜假设驱动统计方案 v2｜2026-09-12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1932D-A582-4750-A3A1-4799BE88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260B9-99AA-4967-A69D-E342BAA9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同样的Hcy水平，在不同WMH负担下意味着多大复发风险？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EFDCF-0146-45D6-8669-4DEBC1FD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78B2C-A8DA-4C0C-9C5B-60C8CCE9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研究顺序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9A51D-4555-4EF8-AF8B-EAB02FE8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H1结构 → H2复发交互 → H3复测更新 → H4功能交互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6B225-5803-4A86-9077-D562E13E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CB0D5-1807-4291-B08F-ADD150B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64824-182A-4F2B-A986-1F1681F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已冻结假设与代码；患者级结果将在真实数据接入后生成。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DD736-0470-4955-A776-EDE9CDFE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FBDD3-5612-471C-8690-F77B2DE3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60A7-EC58-4C36-A1CA-5A3C179D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01 / 28</a:t>
            </a:r>
          </a:p>
        </p:txBody>
      </p:sp>
    </p:spTree>
    <p:extLst>
      <p:ext uri="{BB962C8B-B14F-4D97-AF65-F5344CB8AC3E}">
        <p14:creationId xmlns:p14="http://schemas.microsoft.com/office/powerpoint/2010/main" val="648994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18F61-9722-489B-ABE7-95B8ABDD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EC0B4-E351-4154-9B74-7DC7964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临床问题：Hcy数值需要影像背景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36E7A-3008-41CB-805D-56A1989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血液指标反映代谢状态；WMH提供既有脑损伤信息。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AA75C-2E55-4E21-8920-BC9D7E6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结构问题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53928-8E56-4533-B5CD-F21BA138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Hcy较高者，白质损伤是否更重？先控制B12等代谢背景。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6019F-F6C4-4121-8731-29170F62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A1223-5DBE-419F-A63D-E45EAA32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风险问题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3001-8196-4491-AE02-35CAB58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WMH是否增强Hcy与复发的关联？重点比较绝对风险差。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09021-6DC8-4E4F-8FF0-974028A0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7C83D-B085-4511-A382-ABD71CEA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随访问题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95FE0-D34E-4355-AAD1-0B66C86C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复测Hcy能否更新判断？这一联合关系是否延伸到功能结局？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E6AC7-91EF-4BD9-B645-6B3C485D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A0A3F-06F1-4CF8-B184-7D681A6B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NOMAS 2005  ·  M3_HCY 2018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54A82-55F1-45A6-9E48-2FD5E08C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02 / 28</a:t>
            </a:r>
          </a:p>
        </p:txBody>
      </p:sp>
    </p:spTree>
    <p:extLst>
      <p:ext uri="{BB962C8B-B14F-4D97-AF65-F5344CB8AC3E}">
        <p14:creationId xmlns:p14="http://schemas.microsoft.com/office/powerpoint/2010/main" val="1243893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B5F13-0DFB-4B95-BBCA-7041CB18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451BD-E666-4060-A39B-16308845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H1的出发点：Hcy与白质负担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9965C-D84A-4CEF-AD41-9BA25F1D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现有证据支持在卒中人群中验证定量结构关联。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A4CAA-C96B-4BE3-8536-130CB49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NOMAS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876DC-5556-43E7-A4D8-07F2C2DF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无卒中人群中，Hcy与定量WMH体积存在关联。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5E398-01E7-4575-9288-E128DF31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53D20-E7EB-4A85-9F99-B9542FA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SMART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E6F4D-869F-48FC-B352-B43FC2B9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纵向研究将Hcy与小血管病进展联系起来。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1D73D-C0D2-4947-AB80-2A765E91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6F5F2-314F-4946-98BB-C795685E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本研究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E5FB4-18D6-471C-AA5D-EB32B250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比较调整后的Hcy 15与10 μmol/L对应的WMH负担。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1CA37-3E93-4A64-9D9D-0ECBC857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F2B6C-45CA-4B0D-8D6B-6AC9CFC6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NOMAS 2005  ·  SMART 2014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A3CC0-98F0-46BD-BB19-6BB4298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03 / 28</a:t>
            </a:r>
          </a:p>
        </p:txBody>
      </p:sp>
    </p:spTree>
    <p:extLst>
      <p:ext uri="{BB962C8B-B14F-4D97-AF65-F5344CB8AC3E}">
        <p14:creationId xmlns:p14="http://schemas.microsoft.com/office/powerpoint/2010/main" val="1564263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BF934-F0DA-478D-9C31-76EF1907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A0304-3E19-44DF-88A8-5CC3B678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B12：进入调整集合的生物学依据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289B4-D6B4-4E02-AA16-276068A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固定其角色：影响Hcy代谢和白质状态的背景因素。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F386C-776E-4AD1-BC81-FCE85320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代谢通路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22405-C50F-43C1-849D-1DEE5241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B12参与Hcy再甲基化；叶酸也参与这一代谢过程。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FD171-4651-4821-B62A-733E6034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6789F-1B77-414B-A3D4-14EB2F9C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白质背景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FBB31-498C-4AF4-9489-E215EBA5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B12涉及神经髓鞘相关功能；人体研究报告其与白质病灶有关。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05D0B-DB5A-4859-96EB-1CE963DA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DE1A4-FDEB-4C20-8F3E-334FB9D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模型选择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DABF2-D06D-453E-8F24-680A0C93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B12、叶酸和肾功能同时调整；B12不再单列交互假设。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737F6-4B8E-4D2D-8E1D-097E942A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DA736-A688-404E-B172-1CD55E54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B12WMH 2009  ·  NIH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81D49-F6F9-47ED-82DF-1EE62537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04 / 28</a:t>
            </a:r>
          </a:p>
        </p:txBody>
      </p:sp>
    </p:spTree>
    <p:extLst>
      <p:ext uri="{BB962C8B-B14F-4D97-AF65-F5344CB8AC3E}">
        <p14:creationId xmlns:p14="http://schemas.microsoft.com/office/powerpoint/2010/main" val="1857762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D8CDC-6BFB-45C5-B8DD-90B028B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EFF4F-627E-4497-9733-7F175A2B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四条假设：命题与统计检验一一对应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1E8D6-ED92-461C-BF9C-5A190DD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H2是唯一主要假设；其余三项为固定次要家族。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1240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5857875"/>
                <a:gridCol w="35242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待检验命题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检验量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结构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Hcy 15对10对应更高WMH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Δ1 &gt; 0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复发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WMH增强Hcy与复发的正向关联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βHW &gt; 0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更新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Hcy在基线风险之外仍有正向关联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Δ3 &gt; 0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H4 功能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WMH增强Hcy与较差mRS的正向关联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δHW &gt; 0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BFBD4-760C-49FA-B6DE-6D7891F0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E2A2D-3D1A-4E01-B16D-E370DB58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4F8D-285C-4DB6-9DDF-2CADA5EF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05 / 28</a:t>
            </a:r>
          </a:p>
        </p:txBody>
      </p:sp>
    </p:spTree>
    <p:extLst>
      <p:ext uri="{BB962C8B-B14F-4D97-AF65-F5344CB8AC3E}">
        <p14:creationId xmlns:p14="http://schemas.microsoft.com/office/powerpoint/2010/main" val="1356746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ED2D16-5F3E-4AE6-BB90-A080AAD1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E84F0-BB39-46C4-9F96-5043402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H2的出发点：检验易损背景假设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B193B-4158-4661-A6D6-67A3DB4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这是由既有证据推导的研究命题，需要通过交互检验回答。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992BF-BE86-4204-8447-1DD459FC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8479B-2DC6-424B-A3B4-926A1781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Hcy关联白质病变；Hcy与卒中后风险也已有研究。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084D2-0C43-4400-A063-9EDBCAD7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8FD92-2F9C-4A0B-BD95-E0ADE35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明确假设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21FC2-0BFF-4EF7-A702-4B32CA25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相同幅度的Hcy升高，在WMH较重者中对应更强复发关联。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92D19-570B-4432-900B-D476EBC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03627-2691-4F6C-B94B-38BFB853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核心检验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6816A-C292-405D-880D-14E2756C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连续Hcy × 连续WMH；同时报告不同WMH水平的绝对风险差。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8246B-DE11-4BD8-BF98-EF915EB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B955E-2ABD-4605-81D1-D793E4FB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SMART 2014  ·  M3_HCY 2018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6783D-8881-407A-9149-791731E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06 / 28</a:t>
            </a:r>
          </a:p>
        </p:txBody>
      </p:sp>
    </p:spTree>
    <p:extLst>
      <p:ext uri="{BB962C8B-B14F-4D97-AF65-F5344CB8AC3E}">
        <p14:creationId xmlns:p14="http://schemas.microsoft.com/office/powerpoint/2010/main" val="1625864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4AA9C-B640-4B99-953C-EF2AEBB8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2445F-8A0D-42C9-B607-F91B241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H3与H4各补充一个临床问题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CB6A3-5110-4956-B083-E69C226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复测回答风险更新；功能结局回答患者生活能力。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1EB4D-90F6-4D77-93E5-A390789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H3依据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FF6CA-947C-4789-ABF9-3B5A5CFC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急性期与恢复期Hcy研究提示：恢复期测量与后续复发有关。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5409B-B21E-4A21-9A59-AD9EFF8F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1217A-B985-464A-8C32-E42DD870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H4依据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70391-B0F8-44EB-99CE-7B1EC69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Hcy与WMH分别关联卒中功能结局，脑体积也提供结构背景。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91432-AE08-4C71-AF52-6485952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A3CF2-059C-4215-BD51-81FFC03E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新增检验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7B927-EAB0-4A6F-B329-5A4CB7C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H3控制完整基线Hcy–WMH关系；H4检验交互并调整急性损伤。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B2C05-17A1-44FB-BDF8-46BB4222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6FCE6-05F9-4DF6-908D-963DDFCC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M3_HCY 2018  ·  FOLATE_OUTCOME 2024  ·  WMH_FUNCTION 2020  ·  BRAIN_VOLUME 2020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934D5-DCFF-464E-929B-4623B11E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07 / 28</a:t>
            </a:r>
          </a:p>
        </p:txBody>
      </p:sp>
    </p:spTree>
    <p:extLst>
      <p:ext uri="{BB962C8B-B14F-4D97-AF65-F5344CB8AC3E}">
        <p14:creationId xmlns:p14="http://schemas.microsoft.com/office/powerpoint/2010/main" val="728594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10814-9230-4D65-AB04-BC76AAFC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2F0C2-704C-4208-8D32-CF09CB7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协变量选择有固定的统计规则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20476-A055-42E2-8815-2FD1A005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采用修正析取原因准则，而非样本内显著性筛选。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52CFB-73CD-499B-95CA-596759A5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保留条件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A1C31-8FEC-40D3-A10B-A93E94AA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Hcy或结局的背景原因；或二者共同原因的测量代理。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F85F8-8778-4D76-8DD9-CA7F20D0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4E5F-95CD-4A08-9ECC-4961E67D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剔除条件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03F8A-D7D6-43E7-B084-8445AF33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已知工具变量、暴露后的结构后果；测量项另行指定。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7AC2B-4D17-49EF-91AE-B259689C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B9436-E536-41E8-8A4F-F310773E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55E94-94A8-4DDC-BFC6-C436BAD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文献与时间指定角色 → 程序应用准则 → 保存选择记录。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CAAEC-6310-4961-B915-D59674DB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9FB8A-1CA3-4E8E-BA08-BC5B0C62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VANDERWEELE 2019  ·  OVERADJUST 2009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9EF13-068F-40C1-BF08-AE6E5E7F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08 / 28</a:t>
            </a:r>
          </a:p>
        </p:txBody>
      </p:sp>
    </p:spTree>
    <p:extLst>
      <p:ext uri="{BB962C8B-B14F-4D97-AF65-F5344CB8AC3E}">
        <p14:creationId xmlns:p14="http://schemas.microsoft.com/office/powerpoint/2010/main" val="1773998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014C2-F1CB-4108-BDAE-C16BDE97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7A52A-B334-4DE3-9DC1-3C6A677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固定集合：背景、测量与急性状态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C4981-45CC-4E10-B89B-A81C901E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每一组对应明确估计问题，详细字段和路径另有逐项表。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1240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5857875"/>
                <a:gridCol w="35242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集合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使用位置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</a:tr>
              <a:tr h="1063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C0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年龄、性别、B12、叶酸、CYSC；吸烟、饮酒、高血压、糖尿病、既往卒中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/ H2 / H4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</a:tr>
              <a:tr h="1063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真实ICV；基线采血距发病天数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测量设计项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</a:tr>
              <a:tr h="1063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+ P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NIHSS、TOAST、急性梗死体积；卒中前mRS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H4；H2扩展用A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555CF-4957-4C93-A668-36D821C1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A37E4-2987-4A3D-9224-8BE652AD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VANDERWEELE 2019  ·  RECURRENCE 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C4CAB-EBAB-42E7-A0BF-89C53C43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09 / 28</a:t>
            </a:r>
          </a:p>
        </p:txBody>
      </p:sp>
    </p:spTree>
    <p:extLst>
      <p:ext uri="{BB962C8B-B14F-4D97-AF65-F5344CB8AC3E}">
        <p14:creationId xmlns:p14="http://schemas.microsoft.com/office/powerpoint/2010/main" val="1133685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BD38B-8FF2-482D-9FB5-B6F929B5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AAB5D-66C8-4A16-B1CA-1BD65EB3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为什么这几项要保留？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60AE8-E26B-4D10-AD71-93637D0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选择依据落到变量的路径，避免仅写“为了控制混杂”。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DB62B-D396-4DB2-BA75-8708CD8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B12 / 叶酸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40F1E-6F08-46ED-85F0-28655433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代谢状态→Hcy；B12状态→神经白质背景。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49CB1-5FF8-46B8-BCC6-053B552D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BCD63-2D4A-40EF-AC89-2649B2CE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CYSC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7FDB-1489-4E10-A5EB-D8DA343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肾功能→Hcy及脑血管风险；CYSC测量这一共同背景。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D7F26-1667-40EC-A268-A353151B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45E2-54EF-4060-97AC-5B9B4F5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既往卒中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B86DC-F883-4EE2-85AF-D00245A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既往损伤与再次事件相关；v2将它移入核心集合C0。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DBC62-506B-4D2E-A903-2F8BF72A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FDAAB-E622-44B2-B2A5-0436470D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B12WMH 2009  ·  HORD_METAB 2006  ·  RECURRENCE 2009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B296F-A2DA-4313-B9E3-4D2E99A3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14589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53312-B49C-458A-802B-B78A1483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E1157-F70C-4A62-8E54-D16D732F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因果图：把调整假设写清楚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6AD87-100D-48CD-A0BB-88513F4F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箭头表示冻结的工作假设；交互是模型项，由H2/H4检验。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DC8F2-F4A6-4B80-BB0C-835AE61F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24075"/>
            <a:ext cx="817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C0：代谢、生活方式及既往血管/卒中背景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02A3C-4A97-4429-B912-04EBE956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Hcy相关代谢背景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99D8E-EF1A-4987-BD2F-9A397E97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209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背景WMH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5EAE3-E507-441E-B702-34723B32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048250"/>
            <a:ext cx="2847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A：本次急性状态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21D41-9194-49A6-B3C3-BD1AEFFE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00425"/>
            <a:ext cx="22764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复发 / 功能结局</a:t>
            </a:r>
          </a:p>
        </p:txBody>
      </p:sp>
      <p:cxnSp>
        <p:nvCxnSpPr>
          <p:cNvPr id="45" name=""/>
          <p:cNvCxnSpPr>
            <a:stCxn xmlns:a="http://schemas.openxmlformats.org/drawingml/2006/main" id="4" idx="1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066925" y="2428875"/>
            <a:ext cx="857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4" idx="1"/>
            <a:endCxn xmlns:a="http://schemas.openxmlformats.org/drawingml/2006/main" id="6" idx="1"/>
          </p:cNvCxnSpPr>
          <p:nvPr/>
        </p:nvCxnSpPr>
        <p:spPr>
          <a:xfrm xmlns:a="http://schemas.openxmlformats.org/drawingml/2006/main" flipH="1">
            <a:off x="552450" y="2428875"/>
            <a:ext cx="1600200" cy="2681288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4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25100" y="2428875"/>
            <a:ext cx="195263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52800" y="3614738"/>
            <a:ext cx="602932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990850" y="4114800"/>
            <a:ext cx="7529513" cy="9953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5" idx="2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66925" y="3924300"/>
            <a:ext cx="29527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5110163"/>
            <a:ext cx="2028825" cy="2428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7867650" y="4114800"/>
            <a:ext cx="2652713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D12E0-4EE4-4278-BE96-A423C56A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基线Hcy近似表征代谢背景；H4另对急性状态及卒中前功能条件化。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207457-C937-47AC-8BD7-BDFC74D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5F7FF-7406-498D-BFE3-DDA66DC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VANDERWEELE 2019  ·  OVERADJUST 2009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1BCD2-F19D-4BF8-A682-86291C2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1322707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D4601-FE36-46C3-870C-9E4D44D5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995C0-130F-4ADF-9185-F8752D86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技术路线按假设依次展开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4AD7B-EC90-495A-B055-20E58F5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同一研究主线，分别建立病例清单和检验结果。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7847D-5C06-4C07-BB04-AB53C53E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输入与质控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A687C-3581-45CF-BC41-7FBE599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7645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SAS白名单提取 → ID连接 → 全脑WMH与真实ICV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AA24C-F607-489D-85FB-C965617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4797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H1 结构</a:t>
            </a:r>
          </a:p>
        </p:txBody>
      </p:sp>
      <p:cxnSp>
        <p:nvCxnSpPr>
          <p:cNvPr id="43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881188" y="26384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89B78-19C5-4B8C-B0CB-DBA5F1D3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3845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基线样本：Hcy 15对10的调整后WMH差异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CA186-4708-4DEE-841E-25BCFAD3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997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H2 复发</a:t>
            </a:r>
          </a:p>
        </p:txBody>
      </p:sp>
      <p:cxnSp>
        <p:nvCxnSpPr>
          <p:cNvPr id="46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881188" y="34004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D4673-610B-435A-9CDE-C128B05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0045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延迟入组主队列：交互、绝对风险及敏感性分析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6DB5E-4131-4D2E-98A8-9C2F3EA7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H3 更新</a:t>
            </a:r>
          </a:p>
        </p:txBody>
      </p:sp>
      <p:cxnSp>
        <p:nvCxnSpPr>
          <p:cNvPr id="49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881188" y="41624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02750-E0C9-49DE-A8D3-D97C192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6245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实际M3采血日：基线信息之外的复测条件关联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33237-D591-467C-9661-32F22CA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3397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H4 功能</a:t>
            </a:r>
          </a:p>
        </p:txBody>
      </p:sp>
      <p:cxnSp>
        <p:nvCxnSpPr>
          <p:cNvPr id="52" name=""/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881188" y="49244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737A2-F3D7-4FF4-B6F2-74A410F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12445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12个月mRS：急性状态调整后的交互；T1补充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65AF5-A102-49C1-B5EA-0AE5C2B5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30E36-3D00-4A65-9688-C8DC9F2E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EE877-6CD0-4939-9E1A-94F96097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6256452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67B4F-248E-4801-8DED-B9215C5A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CBE24-9066-4186-84DE-E37331AD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两个风险起点回答两个问题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5B15-A0C5-4E7C-B748-B554842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主分析保留基线采血后、三个月以内发生的复发。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3A99B-2822-4BD6-9DAE-C851D0DA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209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发病日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9DA20-A617-406E-B507-1F34ADC8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00425"/>
            <a:ext cx="230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时间尺度0天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EA5E2-0FD3-4055-8B27-F0468C58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2209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基线采血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3D770-9961-496E-B184-1C1BADE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00425"/>
            <a:ext cx="230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H2进入风险集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81300" y="287178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0C453-FACA-4C20-BDD5-1315ED34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2209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实际M3采血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B5005-62C4-4517-B0E3-6112657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0425"/>
            <a:ext cx="230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另建H3更新队列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95950" y="287178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9F6A79-2046-471E-8EF0-0EDEB59E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2209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发病365天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A36EC-BA27-44AD-930B-051DEE3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00425"/>
            <a:ext cx="230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随访截止</a:t>
            </a:r>
          </a:p>
        </p:txBody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10600" y="2871788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59A52-8F9E-4954-B5FA-79E5C9B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7EA30-AA77-430D-B952-15520EB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2219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早期复发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F3CB7A-DE8F-47FE-8131-AB610B35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29175"/>
            <a:ext cx="8334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采血后至M3之前的复发计入H2；H3纳入M3采血时仍存活且无复发者。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31115-7D5B-4977-AEF0-0F6CB9D7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770662-236B-4DA7-A964-1A7E5E3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BDD69-3D53-4A12-8B9A-D0843CD3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17740024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55DDF-0821-4A95-B369-ECEBA741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2A0AF-F73E-40E4-9B39-359FEFDF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数据接口固定，按现有字段运行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8726C-AB3E-428F-90CA-777E5F8A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38个临床来源字段维持白名单；影像接入全掩膜体积。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21240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5857875"/>
                <a:gridCol w="35242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固定来源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分析位置</a:t>
                      </a:r>
                    </a:p>
                  </a:txBody>
                  <a:tcPr marL="133350" marR="133350" marT="133350" marB="114300" anchor="ctr">
                    <a:solidFill>
                      <a:srgbClr val="006C70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主要终点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y1_is；y1_is_dd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/ H3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基线代谢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BSL_HCY / B12 / B9 / CYSC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/ H2 / H4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恢复期代谢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M03_HCY / B12 / B9 / CYSC；F3_BLDSAMP_D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</a:t>
                      </a:r>
                    </a:p>
                  </a:txBody>
                  <a:tcPr marL="133350" marR="133350" marT="133350" marB="114300" anchor="ctr">
                    <a:solidFill>
                      <a:srgbClr val="FFFFFF"/>
                    </a:solidFill>
                  </a:tcPr>
                </a:tc>
              </a:tr>
              <a:tr h="7977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功能及影像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F12_MRS、H_MRS；WMH、702、病灶、GM119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30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H4及共享质控</a:t>
                      </a:r>
                    </a:p>
                  </a:txBody>
                  <a:tcPr marL="133350" marR="133350" marT="133350" marB="114300" anchor="ctr"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86256-F5AE-4748-BE7B-1019F868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5AED8-47FA-458A-B454-75A1E7E6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7B7D5-0EB1-4EC3-A4CD-2D69281D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14 / 28</a:t>
            </a:r>
          </a:p>
        </p:txBody>
      </p:sp>
    </p:spTree>
    <p:extLst>
      <p:ext uri="{BB962C8B-B14F-4D97-AF65-F5344CB8AC3E}">
        <p14:creationId xmlns:p14="http://schemas.microsoft.com/office/powerpoint/2010/main" val="7004384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11173-8831-4961-8286-CB69769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0D029-630D-4FCE-B5B1-BFD29225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H1：用明确对比检验结构假设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7650B-F083-4BD6-84B0-CEB05AC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主要结果是Hcy 15对10 μmol/L的WMH差异。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E1A24-E1F5-447A-8B89-1506C467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53EEE-B6B3-43D2-B7DC-091139D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log(1+WMH) ~ Hcy样条 + 年龄样条 + C0其余项 + D0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814DD-9C5B-4B48-ADFB-021448C6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84BE3-6605-4C90-874C-37C5D993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检验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1F5DD-6DA5-435D-8327-8FB19DA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Δ1 = fH(log2 15) − fH(log2 10)；使用完整协方差。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9B194-7CCE-4707-B2AF-C9CC509D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5C084-9B91-4CF0-AEED-ECE6F90C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支持标准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17CA4-E86B-455C-8D65-BB582EA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Δ1&gt;0，且H1/H3/H4三项Holm校正P&lt;0.05。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53439-EF3C-48A2-AE5B-0DB25BD9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84824-47E9-4E94-A624-29DD817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NOMAS 2005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E30F6F-C3C7-4CBB-8E3C-8107205B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15961743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E60A7-C6CB-4546-95BC-E51F8686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5031E-CC95-4E49-B32F-02EB0647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H2：一个预设的主要交互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7750A-F4A7-46E9-94F5-658C2E98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非线性主效应 + 一自由度H×W，保持检验清楚。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47BDA-83BE-47D4-B995-58EADA8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变换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D1785-377F-40BB-AD7B-40B3A347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H=中心化log2(Hcy)；W=中心化log(1+WMH)/SD。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B4C5C-4834-48BC-A45B-78E3EF3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9C062-B0F6-46D4-A3A9-6087FEE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2D5DC-829D-4DD2-8E74-BBB4D993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原因别Cox：H、W、年龄样条 + βHW·H·W + C0/D0。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DD276-76FA-4AF9-B940-A4A81CC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C922D-B1CF-4150-BC9B-C234753D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支持标准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4B03A-2D2A-4A71-A561-CA995279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βHW&gt;0且双侧P&lt;0.05；报告HR之比exp(βHW)和95%CI。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B1352-0E28-47D0-97F2-A47964BF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4F6F7-1E94-41E3-96B8-0DAB5303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PHREG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74322-72B2-4685-8AC8-F89AD7B9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4171004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1941F-373F-4EF2-8DA9-C497D321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CFC96-A1A4-44C1-AB88-491ADDE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H2：把交互转成可理解的风险差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48AD2-CDFE-4F0A-A0D3-8C5EAD96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风险在实际分析人群的背景协变量及进入时间上标准化。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3886E-668A-4DDA-BC06-ABCA21D8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展示点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7F333-2675-496E-8D3F-333C5C7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WMH第25、50、75百分位；Hcy固定比较10与15。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5EDC1-9EDA-4C23-A48C-4351EFAC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BC896-68C4-4D12-A2E2-C47BBD41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绝对风险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0F8C5-BAEB-4ECB-810A-E7713C99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缺血性卒中和死亡分别建模，联合计算累计发生概率。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1DEB7-91C2-44C9-9727-6497C690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D7DB9-4498-496E-9B48-662EDE72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临床表达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1FE7D-DBA4-4F34-87CF-94F452D1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每100名相似患者，Hcy15与10对应多少事件风险差，并给出区间。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D5C09-8919-409D-A214-E02385DC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517E6-279E-463C-A389-58385D86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PHREG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7DF63-3805-44EE-91B9-C44AF0C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9724913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02CD0-1900-4976-B1E9-FF4AF857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20768-4E4F-4985-83B0-80B238C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H3：保留完整基线信息再看M3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00338-98F4-45FE-B444-BD66431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H3检验复测值的条件关联，基线Hcy–WMH关系同时保留。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320FE-CE34-4109-A97D-959FC057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F37F8-B2D4-4854-8AFF-4344DCD6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基线Hcy样条 + WMH样条 + 基线Hcy×WMH + C3及测量项。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DBB3B-644F-4691-9A7F-952EF075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BBE92-D2ED-47E0-B5FD-B8B5DBE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99AD3-8E24-4CE0-AB52-6AC5B260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同一批患者、同样协变量，再加入M3 Hcy的两个样条项。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FDD09-B121-4F0E-BB5E-554EDC7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31FEF-E437-4D4D-BD39-F01E8E2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支持标准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76BC7-71D4-4236-A235-0D22ACF5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M3 Hcy15对10的条件logHR&gt;0，且Holm校正P&lt;0.05。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852E5-F50D-450A-A211-3EC06EB1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117D0-A2BE-49C4-B6F1-B22F3395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M3_HCY 2018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E0EF5-3367-417D-AA4F-848CEBEC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7252436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A8AD4-061C-4830-BA23-59D1A111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1E3FA-D966-4AAA-8C8C-86C1F6EB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H3：风险更新输出什么？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DC818-9EF0-44E9-A8BE-1F9916D8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同期B12、叶酸和CYSC对应三个月的代谢背景。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1CB85-4FB5-446E-84BE-C145F447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主要表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C5673-70E6-4413-8649-78E3EA56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M3 Hcy15对10的条件HR、95%CI及校正P。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361CC-3615-4AA3-A492-E5B38BB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FF922-49CC-409C-B95B-30EC83DB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更新表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218F6-2E21-4A67-A72C-F26F747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M0与M1的同队列拟合风险分布和个体风险变化。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FADED-5DBF-4B65-A6CC-EE44555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4C1FD-369C-44C2-848D-7686AC3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更新图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87FC9-7A83-4697-99ED-6B45A3AE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不同WMH水平下，M3 Hcy与后续绝对风险的连续曲线。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AAC99-FB3A-483A-8BE6-5E39C1D4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71E82-7ADA-471F-86AB-DEA5355F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M3_HCY 2018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196DC-1A13-48E4-A02B-F3B0F72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7192735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DB81F-61A5-4D91-97C8-7CAC2FA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9A27D-5777-4413-806D-73854D89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H4：功能结局中的交互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B4ADD-BF7F-4C21-8D7F-7DCF98A4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指定条件：背景因素、本次卒中负担和卒中前功能相近。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CF2EF-B56E-47C3-BE5C-819B357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结局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F94AB-8ABD-464A-A285-3BB0DF8C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12个月mRS保留0–6顺序；已确认死亡记6。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E8E38-6736-43B8-BBF8-206A247D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A305C-68C9-489F-AA3A-9D8A1F56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ED0A1-9559-4DF3-A10A-15B13B4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有序logistic：H/W样条 + δHW·H·W + C0/D0 + A + P。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325D7-2CB7-4389-A035-BAAA5169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7E337-E81A-46AE-93E3-6192B0E6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支持标准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C70DC-E624-45DF-994C-B8BEC311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δHW&gt;0且Holm校正P&lt;0.05；报告共同OR之比和阈值诊断。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971DA-19C8-4CC5-9168-11CEEC5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FFAFF-76D6-4B96-9710-E926D860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FOLATE_OUTCOME 2024  ·  WMH_FUNCTION 2020  ·  ORDERED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4FC79-77C7-42C1-A820-7D8C2AD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6763633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0459E-6D92-4B63-9CCC-397EDD8A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8D4A0-D00D-450C-942A-68E36BB9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T1与急性状态各自承担什么任务？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E1600-1CEC-43D3-814B-43133C20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T1作为H4的结构补充；急性状态用于指定条件的比较。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747B1-3696-4127-B196-D538D164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急性损伤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5B7DC-324B-499B-9C1B-A1F55CC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NIHSS、TOAST和梗死体积进入H4，并作H2临床扩展。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5C564-510D-4CA4-A96C-B6A2D763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E5E58-D4D1-4DCC-A515-0FF97EE8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T1补充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4B294-859F-4FE1-855C-0BC6BA6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在合格子样本加入GM119灰质总体积，报告条件关联。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185CD-D3FD-48CA-A525-5B511C41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BEE78-12B6-45D7-982B-3242A8D6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预设解释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7C786-9BB3-4FDB-A7C1-1CF9E820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H4回答相同急性损伤下的功能差异；H2主模型回答背景复发关联。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FC18D-FEA3-4D4C-897A-3519F93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4B744-BA91-404F-A9FE-48779A5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OVERADJUST 2009  ·  BRAIN_VOLUME 2020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507C4-7C1B-4424-B273-0761A1A1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15923386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320C41-89E4-4621-9320-A53E31C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B91FF-A38E-4DA7-B746-401625A8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判定规则固定，不随结果改动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1D50A-93C0-4275-B378-CB79F566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先看估计方向，再使用预先指定的检验阈值。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D8E53-27C2-40E1-8454-7B8F73F8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主要家族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21B09-20CD-45B4-ACF4-D55B8ED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H2：双侧α=0.05。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CE850-C5FE-4CFB-B029-EDACDFB1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50C63-497C-4A28-BD7E-5070799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次要家族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30FC7-F7D5-4B74-917B-9767629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H1、H3、H4：固定三项Holm校正；不可估计者保持家族位置。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65D67-75F7-46E8-99A0-246EB08A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5B1EF-D282-4FF8-BDBF-6CD91BF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结论代码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F5278-264D-4C91-8FF0-B479DAD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支持预设方向 / 支持相反方向 / 未获支持 / 不可估计。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3466C-3A80-4C0B-A630-B92B992F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D5A5E-A573-43B9-B757-F930F787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EEE9C-E842-4679-875C-DCD40E9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8829574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94346-2D8A-41B6-A8B3-C10751DF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D767B-B360-4795-A1C2-546EEA7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从假设到结果表：每一步可追溯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35A5B-D2EF-4D3B-9F34-AB15C4C5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病例清单、模型、对比和判定使用统一编号。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BEF9F-1975-4DBC-88CB-B17C66A2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hypotheses.json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B73E5-E655-4047-9711-8E77B2C6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7645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保存H1–H4的命题、零假设、方向和检验家族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2326E-38B6-4656-91B4-22DD243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adjustment.py</a:t>
            </a:r>
          </a:p>
        </p:txBody>
      </p:sp>
      <p:cxnSp>
        <p:nvCxnSpPr>
          <p:cNvPr id="37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881188" y="26384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A07D5-B947-4249-BF5A-BE40D221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0375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执行变量角色准则，输出adjustment_certificate.json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F2E67-F4F5-4433-9F13-2A9C40BF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33825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01 → 04</a:t>
            </a:r>
          </a:p>
        </p:txBody>
      </p: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881188" y="35623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E534F-714F-4F20-ADFB-BA4B13A5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924300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分目录运行结构、复发、更新、功能模型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D9D56-DCDC-415E-9BA3-14127F35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13335">
            <a:solidFill>
              <a:srgbClr val="006C7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假设判定总表</a:t>
            </a:r>
          </a:p>
        </p:txBody>
      </p:sp>
      <p:cxnSp>
        <p:nvCxnSpPr>
          <p:cNvPr id="43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881188" y="44862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C70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2E23F-ED55-4218-B494-59F15119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48225"/>
            <a:ext cx="7810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hypothesis_summary.csv：四项估计、95%CI、P值及判定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0D5AB-D625-4D3F-8553-142055F8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51329-864C-4F9E-B132-1BA51AB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F94ED-B58A-4ABA-9F85-16A164A0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19990546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CC980-70E6-4BDF-B857-56B903FD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D10A5-5E0B-4383-8C07-D9E983A7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缺失与模型诊断服务于每条假设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74E5C-9997-49AF-9675-BEF5D73C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生产分析固定50份插补；演示仅用于检查代码。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1B105-5E1B-4DE1-A3B5-9A18100F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插补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44734-5A25-4A20-949E-A6CDDA3D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B12等散在协变量缺失采用MICE；纳入暴露及事件风险辅助项。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91530-DA44-4102-81F6-E0845186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30AB8-611E-4F79-B19C-94666BF0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诊断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A75D4-72FF-488D-BBE3-15D8B5E9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核验收敛、比例风险、比例优势、共线性及异常影响。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95AEC-1BAE-4908-9158-1E706E69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DCFBB-8A77-4B56-A151-D8DA4455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敏感性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A4FEF-12AF-4278-AB1A-33B5C07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原始WMH、完整病例、肌酐替代、急性扩展及早晚期结果。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436F6-9B02-479D-9EE5-46E9FF85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D7851-D9C3-4376-9B58-26866C2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WHITE 2009  ·  MICOX 2022  ·  MICE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BC071-183A-4530-8FBE-0B290D18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4820960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D9E15-786B-4373-9703-FB88A1F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A05EB-9410-48E7-B28F-7EAA6F0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项目已经按四条假设排列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BECFD-255B-479D-B608-2C23E9E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WSL固定目录：/home/zhenzong2/analysis/WMH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E010B-CD6A-4298-B976-4CE7CBF8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先准备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FBA5B-5B01-4562-B3E6-C29E1B9B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依次运行doctor、extract、prepare；完整命令见操作手册。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5CC59-37A5-4399-94CC-E49AE21B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E9842-0123-443B-814D-0945A40A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完整运行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9FCDA-3691-4830-8955-94EFCAD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uv run wmh-hcy analyse；uv run wmh-hcy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EFF04-9EDC-4370-92EC-BA9914F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41B7F-8C25-4D78-B8C2-C5965209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单项运行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9D9E0-7F87-46E5-ABFB-C03BEE7A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uv run wmh-hcy analyse --hypothesis H2；其余同理。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71D0A-796A-48DD-92C2-B72A95D2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CF22D-CCC5-41DE-B32B-3F0BCE5B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0CACB-3EBA-47BE-985F-85CCE60E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2989059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30976-7D1D-41C2-9073-09394452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B7BAD-4482-49A8-ABE4-2EE472D5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一张主表贯穿整项研究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6DD3B-CAAA-4D85-89F4-8F29F33F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先回答主要交互，再把结构、复测和功能证据放回对应问题。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DD531-1EC2-4B2A-A643-65D87CD8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主表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998E8-497A-4D2A-9C8C-5F690872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526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H1–H4：假设、估计量、95%CI、校正P及判定。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81228-9033-4459-837B-D110C199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575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C51B1-1FAA-47B7-A243-97136A78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配套输出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9BBBD-48D4-4E80-B268-3DFF69F4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099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H2风险差与敏感性；H3复测HR/M0-M1风险；H4阈值结果。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9655F-4C09-4401-AE59-00A3CB70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14850"/>
            <a:ext cx="899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DCD45-4D26-4A4C-BC26-E776D93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2BA51-1421-4AB9-8E67-262DEC9E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67250"/>
            <a:ext cx="8991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明确WMH是否改变Hcy的风险含义，以及何时复测可增加信息。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7E599-B385-49FB-979F-2BC782A5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98D77-7BE4-49F8-9EBA-CAA5E826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CNSR-III Hcy–WMH · 研究设计 / 软件实施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E5BE5A-C78C-42C4-AEDB-847FEF38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18393759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E89EB-EA5F-4CFC-BE77-427B63E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2F72C-98D9-4A87-B598-FAD43BBB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背景与假设参考文献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0AA56-1376-4519-B9FA-3B2BD47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完整题录、链接与每条假设的证据对应表见项目docs。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10111-D9A9-4966-876C-D3042BBF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764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NOMAS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57636-A528-4F0E-9A90-09F16E8E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669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Wright CB et al. Total homocysteine is associated with white matter hyperintensity volume: the Northern Manhattan Study. Stroke 2005.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43ABD-E668-4CB4-AC5C-3D13EFCC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717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SMART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8E900-4134-4865-8A9A-8323ADC0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622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Kloppenborg RP et al. Homocysteine and progression of generalized small-vessel disease. Neurology 2014.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700E7-EEC2-4AE1-B0F2-7B601762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670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B12WMH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23AB8-8F7A-4F44-817E-BF9C6499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575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de Lau LML et al. Plasma vitamin B12 status and cerebral white-matter lesions. Journal of Neurology, Neurosurgery &amp; Psychiatry 2009.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96ADD-EAB2-4A8F-96C3-5299C3AD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623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M3_HCY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4284C-AF3E-456E-9813-60836F8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528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Shi Z et al. Changes in total homocysteine levels after acute stroke and recurrence of stroke. Scientific Reports 2018.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A9E38-FA2E-4AA3-8114-498F5E33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576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FOLATE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5EBD5-BD09-4979-81EC-81FE921F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481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Shi M et al. Folate, Homocysteine, and Adverse Outcomes After Ischemic Stroke. Journal of the American Heart Association 2024.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78F51-3D83-4B64-8947-B46D0E3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529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WMH–mRS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8368F-5F65-4B06-A7D2-2574AFD9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434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Griessenauer CJ et al. Effects of White Matter Hyperintensities on 90-Day Functional Outcome after Large Vessel and Non-Large Vessel Stroke. Cerebrovascular Diseases 2020.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9A5EB-F8E9-4B82-B4A3-A66DEC30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144D6-12D2-41BD-BAEC-42EC8C5F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387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Schirmer MD et al. Brain Volume: An Important Determinant of Functional Outcome After Acute Ischemic Stroke. Mayo Clinic Proceedings 2020.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067D5-B82A-41EE-8463-031F4B2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435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RECURRENCE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E01B4-7F7C-4FC5-A9AD-09F814BA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340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Weimar C et al. The Essen stroke risk score predicts recurrent cardiovascular events: a validation within the REduction of Atherothrombosis for Continued Health (REACH)…. Stroke 2009.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52911-DCC0-42D7-9857-851198EE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A8E17-2EA1-4363-AC93-510F526F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完整题录与链接见 docs/references.md；逐页来源见幻灯片备注。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CE4E2-B496-4927-BFDF-2B354530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1102948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C08D7-08ED-4B24-A4C1-7DF6CA4F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CNSR-III  /  Hcy × WMH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DFC15-5114-4DE3-814D-BE31CC5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71525"/>
            <a:ext cx="11134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统计依据与实现参考文献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038E7-F6AC-41E8-B505-4800D564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81150"/>
            <a:ext cx="1102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每项角色表、模型和方法均可追溯到对应来源。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CC806-DFDD-49EC-8B88-C1DDE11B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764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VANDERWEELE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E3B9C-5862-442B-AF8B-691C99D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669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VanderWeele TJ. Principles of confounder selection. European Journal of Epidemiology 2019.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9BE3-FC93-4BD8-B87F-773086D5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717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OVERADJUST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03C18-A5AE-4BB5-A6C3-75428C15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622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Schisterman EF et al. Overadjustment bias and unnecessary adjustment in epidemiologic studies. Epidemiology 2009.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CDA52-3A23-498A-A17D-1BB7589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670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WHITE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05B5E-C519-4407-A9DA-398946F2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575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White IR et al. Imputing missing covariate values for the Cox model. Statistics in Medicine 2009.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62CEC-6C42-4551-AADA-E6F2139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623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MICOX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E2221-9D29-45BA-A867-B008D343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528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Bonneville EF et al. Multiple imputation for cause-specific Cox models: Assessing methods for estimation and prediction. Statistical Methods in Medical Research 2022.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4B2C2-DF2E-4DE5-A7F4-ADAECBCB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576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CUTOFF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DABB1-1671-4F89-9D10-37AF0AF4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481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Altman DG et al. The cost of dichotomising continuous variables. BMJ 2006.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3F3BB-1DDA-4D40-8EEF-5BE236AB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529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PHREG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729325-2912-4C40-B1EA-C8A848B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434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statsmodels PHReg: proportional hazards regression, entry and Efron ties. Official documentation 2026.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A661D-008A-41BC-A5C7-85F75539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ORDERED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72947-6A74-4645-BC8A-C6170C6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387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statsmodels OrderedModel: ordinal regression. Official documentation 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EC2D6-98F4-4ABE-9C35-9A4310D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43550"/>
            <a:ext cx="1619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C70"/>
                </a:solidFill>
                <a:latin typeface="Microsoft YaHei"/>
                <a:ea typeface="Microsoft YaHei"/>
                <a:cs typeface="Microsoft YaHei"/>
              </a:rPr>
              <a:t>MICE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3E6D6-DBDE-42A3-88B5-E31BAA6A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34025"/>
            <a:ext cx="929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0" b="0">
                <a:solidFill>
                  <a:srgbClr val="153040"/>
                </a:solidFill>
                <a:latin typeface="Microsoft YaHei"/>
                <a:ea typeface="Microsoft YaHei"/>
                <a:cs typeface="Microsoft YaHei"/>
              </a:rPr>
              <a:t>miceforest: multiple imputation with LightGBM. Official documentation 2026.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E7210-E7A1-4679-ABBE-ACCB4773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035E9-2B9B-4A90-94EB-4D4BB274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完整题录与链接见 docs/references.md；逐页来源见幻灯片备注。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65A9E-BCD8-4DF4-9D29-4D8D15A9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872"/>
                </a:solidFill>
                <a:latin typeface="Microsoft YaHei"/>
                <a:ea typeface="Microsoft YaHei"/>
                <a:cs typeface="Microsoft YaHei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252953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2026-09-15T18:03:13.7010000Z</dcterms:created>
  <dcterms:modified xsi:type="dcterms:W3CDTF">2026-09-15T18:03:13.7010000Z</dcterms:modified>
</coreProperties>
</file>